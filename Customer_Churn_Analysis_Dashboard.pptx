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db6315d2-8329-ec02-79c9-ac6357adef42}">
          <p14:sldIdLst>
            <p14:sldId id="256"/>
            <p14:sldId id="257"/>
          </p14:sldIdLst>
        </p14:section>
        <p14:section name="Data &amp; Modeling" id="{35cbe25f-57f1-ac04-397c-185f625dca5d}">
          <p14:sldIdLst>
            <p14:sldId id="258"/>
            <p14:sldId id="259"/>
            <p14:sldId id="260"/>
          </p14:sldIdLst>
        </p14:section>
        <p14:section name="DAX &amp; Dashboard" id="{a1493fb2-5b8b-a328-4682-f3f2037255c7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Wrap-up" id="{e8b33732-fd18-86d0-89fc-0223d5aa81c6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an end-to-end customer churn analysis built in Power BI using Power Query for preparation and DAX for measures.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goals: measure churn, understand demographics, find patterns, evaluate business drivers, and recommend retention 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7,043 customer records. The 12 key attributes cover demographics, services, billing and the churn flag.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cleaning flow in Power Query. You can add a Power Query screenshot to this slide if you want to show the applied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Customer table feeds a set of DAX measures that power every KPI card and chart on the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core measures. Churn Rate uses DIVIDE to avoid divide-by-zero errors. 1,869 / 7,043 = 26.5%.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full dashboard first, then drill into the sections on the next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Churn rate = 1,869 / 7,043 = 26.5%. Active customers = 7,043 - 1,869 = 5,174. The right-hand image is the KPI section of the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Demographic splits: gender is roughly 50/50, dependents about 30/70, partner nearly equal. Senior citizen can be added here if you built that visual.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Lighter pink segments show churned customers. Confirm the category labels (contract, payment, internet type) against your own report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tenure histogram has a tall bar at the shortest tenure and another at the longest.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each recommendation back to a finding: contract type, payment method, tenure and service 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Flow recap: Dataset, cleaning, model, DAX, dashboard, insights, recommendations.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3840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2514600"/>
            <a:ext cx="384048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Customer Churn Analysis  |  Power BI Project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Customer Churn Analysis Dashboard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25146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Power BI Project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54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TOOLS USED</a:t>
            </a:r>
            <a:endParaRPr lang="en-US" sz="1100" dirty="0"/>
          </a:p>
        </p:txBody>
      </p:sp>
      <p:sp>
        <p:nvSpPr>
          <p:cNvPr id="5" name="Tool chip Power BI"/>
          <p:cNvSpPr txBox="1"/>
          <p:nvPr/>
        </p:nvSpPr>
        <p:spPr>
          <a:xfrm>
            <a:off x="548640" y="3456432"/>
            <a:ext cx="1051560" cy="329184"/>
          </a:xfrm>
          <a:prstGeom prst="roundRect">
            <a:avLst>
              <a:gd name="adj" fmla="val 47222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Power BI</a:t>
            </a:r>
            <a:endParaRPr lang="en-US" sz="1200" dirty="0"/>
          </a:p>
        </p:txBody>
      </p:sp>
      <p:sp>
        <p:nvSpPr>
          <p:cNvPr id="6" name="Tool chip Power Query"/>
          <p:cNvSpPr txBox="1"/>
          <p:nvPr/>
        </p:nvSpPr>
        <p:spPr>
          <a:xfrm>
            <a:off x="1709928" y="3456432"/>
            <a:ext cx="1280160" cy="329184"/>
          </a:xfrm>
          <a:prstGeom prst="roundRect">
            <a:avLst>
              <a:gd name="adj" fmla="val 47222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Power Query</a:t>
            </a:r>
            <a:endParaRPr lang="en-US" sz="1200" dirty="0"/>
          </a:p>
        </p:txBody>
      </p:sp>
      <p:sp>
        <p:nvSpPr>
          <p:cNvPr id="7" name="Tool chip DAX"/>
          <p:cNvSpPr txBox="1"/>
          <p:nvPr/>
        </p:nvSpPr>
        <p:spPr>
          <a:xfrm>
            <a:off x="3099816" y="3456432"/>
            <a:ext cx="731520" cy="329184"/>
          </a:xfrm>
          <a:prstGeom prst="roundRect">
            <a:avLst>
              <a:gd name="adj" fmla="val 47222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DAX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14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PREPARED BY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3708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Your Name</a:t>
            </a:r>
            <a:endParaRPr lang="en-US" sz="1800" dirty="0"/>
          </a:p>
        </p:txBody>
      </p:sp>
      <p:sp>
        <p:nvSpPr>
          <p:cNvPr id="10" name="Dashboard frame"/>
          <p:cNvSpPr/>
          <p:nvPr/>
        </p:nvSpPr>
        <p:spPr>
          <a:xfrm>
            <a:off x="4572000" y="1325880"/>
            <a:ext cx="4206240" cy="2340864"/>
          </a:xfrm>
          <a:prstGeom prst="roundRect">
            <a:avLst>
              <a:gd name="adj" fmla="val 312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Full churn dashboard" descr="Full churn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417320"/>
            <a:ext cx="4023360" cy="21616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Project Objective</a:t>
            </a:r>
            <a:endParaRPr lang="en-US" sz="3200" dirty="0"/>
          </a:p>
        </p:txBody>
      </p:sp>
      <p:sp>
        <p:nvSpPr>
          <p:cNvPr id="3" name="Objective card"/>
          <p:cNvSpPr/>
          <p:nvPr/>
        </p:nvSpPr>
        <p:spPr>
          <a:xfrm>
            <a:off x="457200" y="1234440"/>
            <a:ext cx="3200400" cy="3200400"/>
          </a:xfrm>
          <a:prstGeom prst="roundRect">
            <a:avLst>
              <a:gd name="adj" fmla="val 2286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OBJECTIVE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2880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Analyze customer behavior and identify the factors contributing to customer churn.</a:t>
            </a:r>
            <a:endParaRPr lang="en-US" sz="2000" dirty="0"/>
          </a:p>
        </p:txBody>
      </p:sp>
      <p:sp>
        <p:nvSpPr>
          <p:cNvPr id="6" name="Objective row 1"/>
          <p:cNvSpPr/>
          <p:nvPr/>
        </p:nvSpPr>
        <p:spPr>
          <a:xfrm>
            <a:off x="3931920" y="1234440"/>
            <a:ext cx="4754880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Number 1"/>
          <p:cNvSpPr txBox="1"/>
          <p:nvPr/>
        </p:nvSpPr>
        <p:spPr>
          <a:xfrm>
            <a:off x="4069080" y="1335024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123444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Measure customer churn rate</a:t>
            </a:r>
            <a:endParaRPr lang="en-US" sz="1500" dirty="0"/>
          </a:p>
        </p:txBody>
      </p:sp>
      <p:sp>
        <p:nvSpPr>
          <p:cNvPr id="9" name="Objective row 2"/>
          <p:cNvSpPr/>
          <p:nvPr/>
        </p:nvSpPr>
        <p:spPr>
          <a:xfrm>
            <a:off x="3931920" y="1892808"/>
            <a:ext cx="4754880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Number 2"/>
          <p:cNvSpPr txBox="1"/>
          <p:nvPr/>
        </p:nvSpPr>
        <p:spPr>
          <a:xfrm>
            <a:off x="4069080" y="199339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189280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Analyze customer demographics</a:t>
            </a:r>
            <a:endParaRPr lang="en-US" sz="1500" dirty="0"/>
          </a:p>
        </p:txBody>
      </p:sp>
      <p:sp>
        <p:nvSpPr>
          <p:cNvPr id="12" name="Objective row 3"/>
          <p:cNvSpPr/>
          <p:nvPr/>
        </p:nvSpPr>
        <p:spPr>
          <a:xfrm>
            <a:off x="3931920" y="2551176"/>
            <a:ext cx="4754880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Number 3"/>
          <p:cNvSpPr txBox="1"/>
          <p:nvPr/>
        </p:nvSpPr>
        <p:spPr>
          <a:xfrm>
            <a:off x="4069080" y="265176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255117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Identify churn patterns</a:t>
            </a:r>
            <a:endParaRPr lang="en-US" sz="1500" dirty="0"/>
          </a:p>
        </p:txBody>
      </p:sp>
      <p:sp>
        <p:nvSpPr>
          <p:cNvPr id="15" name="Objective row 4"/>
          <p:cNvSpPr/>
          <p:nvPr/>
        </p:nvSpPr>
        <p:spPr>
          <a:xfrm>
            <a:off x="3931920" y="3209544"/>
            <a:ext cx="4754880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Number 4"/>
          <p:cNvSpPr txBox="1"/>
          <p:nvPr/>
        </p:nvSpPr>
        <p:spPr>
          <a:xfrm>
            <a:off x="4069080" y="3310128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320954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Evaluate business factors affecting churn</a:t>
            </a:r>
            <a:endParaRPr lang="en-US" sz="1500" dirty="0"/>
          </a:p>
        </p:txBody>
      </p:sp>
      <p:sp>
        <p:nvSpPr>
          <p:cNvPr id="18" name="Objective row 5"/>
          <p:cNvSpPr/>
          <p:nvPr/>
        </p:nvSpPr>
        <p:spPr>
          <a:xfrm>
            <a:off x="3931920" y="3867912"/>
            <a:ext cx="4754880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Number 5"/>
          <p:cNvSpPr txBox="1"/>
          <p:nvPr/>
        </p:nvSpPr>
        <p:spPr>
          <a:xfrm>
            <a:off x="4069080" y="3968496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617720" y="386791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Generate actionable insights for retention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Dataset Overview</a:t>
            </a:r>
            <a:endParaRPr lang="en-US" sz="3200" dirty="0"/>
          </a:p>
        </p:txBody>
      </p:sp>
      <p:sp>
        <p:nvSpPr>
          <p:cNvPr id="3" name="Description card"/>
          <p:cNvSpPr/>
          <p:nvPr/>
        </p:nvSpPr>
        <p:spPr>
          <a:xfrm>
            <a:off x="457200" y="1234440"/>
            <a:ext cx="374904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dataset contains customer demographics, subscription details, payment methods and churn status.</a:t>
            </a:r>
            <a:endParaRPr lang="en-US" sz="1500" dirty="0"/>
          </a:p>
        </p:txBody>
      </p:sp>
      <p:sp>
        <p:nvSpPr>
          <p:cNvPr id="5" name="Stat records"/>
          <p:cNvSpPr/>
          <p:nvPr/>
        </p:nvSpPr>
        <p:spPr>
          <a:xfrm>
            <a:off x="457200" y="2926080"/>
            <a:ext cx="178308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457200" y="31089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7,043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8404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Total Records</a:t>
            </a:r>
            <a:endParaRPr lang="en-US" sz="1300" dirty="0"/>
          </a:p>
        </p:txBody>
      </p:sp>
      <p:sp>
        <p:nvSpPr>
          <p:cNvPr id="8" name="Stat attributes"/>
          <p:cNvSpPr/>
          <p:nvPr/>
        </p:nvSpPr>
        <p:spPr>
          <a:xfrm>
            <a:off x="2423160" y="2926080"/>
            <a:ext cx="178308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423160" y="31089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12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2423160" y="38404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Key Attributes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123444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DATA ATTRIBUTES</a:t>
            </a:r>
            <a:endParaRPr lang="en-US" sz="1100" dirty="0"/>
          </a:p>
        </p:txBody>
      </p:sp>
      <p:sp>
        <p:nvSpPr>
          <p:cNvPr id="12" name="Attribute Customer ID"/>
          <p:cNvSpPr txBox="1"/>
          <p:nvPr/>
        </p:nvSpPr>
        <p:spPr>
          <a:xfrm>
            <a:off x="4480560" y="1554480"/>
            <a:ext cx="1353312" cy="594360"/>
          </a:xfrm>
          <a:prstGeom prst="roundRect">
            <a:avLst>
              <a:gd name="adj" fmla="val 1230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Customer ID</a:t>
            </a:r>
            <a:endParaRPr lang="en-US" sz="1200" dirty="0"/>
          </a:p>
        </p:txBody>
      </p:sp>
      <p:sp>
        <p:nvSpPr>
          <p:cNvPr id="13" name="Attribute Gender"/>
          <p:cNvSpPr txBox="1"/>
          <p:nvPr/>
        </p:nvSpPr>
        <p:spPr>
          <a:xfrm>
            <a:off x="5907024" y="1554480"/>
            <a:ext cx="1353312" cy="594360"/>
          </a:xfrm>
          <a:prstGeom prst="roundRect">
            <a:avLst>
              <a:gd name="adj" fmla="val 1230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Gender</a:t>
            </a:r>
            <a:endParaRPr lang="en-US" sz="1200" dirty="0"/>
          </a:p>
        </p:txBody>
      </p:sp>
      <p:sp>
        <p:nvSpPr>
          <p:cNvPr id="14" name="Attribute Senior Citizen"/>
          <p:cNvSpPr txBox="1"/>
          <p:nvPr/>
        </p:nvSpPr>
        <p:spPr>
          <a:xfrm>
            <a:off x="7333488" y="1554480"/>
            <a:ext cx="1353312" cy="594360"/>
          </a:xfrm>
          <a:prstGeom prst="roundRect">
            <a:avLst>
              <a:gd name="adj" fmla="val 1230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Senior Citizen</a:t>
            </a:r>
            <a:endParaRPr lang="en-US" sz="1200" dirty="0"/>
          </a:p>
        </p:txBody>
      </p:sp>
      <p:sp>
        <p:nvSpPr>
          <p:cNvPr id="15" name="Attribute Partner Status"/>
          <p:cNvSpPr txBox="1"/>
          <p:nvPr/>
        </p:nvSpPr>
        <p:spPr>
          <a:xfrm>
            <a:off x="4480560" y="2286000"/>
            <a:ext cx="1353312" cy="594360"/>
          </a:xfrm>
          <a:prstGeom prst="roundRect">
            <a:avLst>
              <a:gd name="adj" fmla="val 1230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Partner Status</a:t>
            </a:r>
            <a:endParaRPr lang="en-US" sz="1200" dirty="0"/>
          </a:p>
        </p:txBody>
      </p:sp>
      <p:sp>
        <p:nvSpPr>
          <p:cNvPr id="16" name="Attribute Dependents"/>
          <p:cNvSpPr txBox="1"/>
          <p:nvPr/>
        </p:nvSpPr>
        <p:spPr>
          <a:xfrm>
            <a:off x="5907024" y="2286000"/>
            <a:ext cx="1353312" cy="594360"/>
          </a:xfrm>
          <a:prstGeom prst="roundRect">
            <a:avLst>
              <a:gd name="adj" fmla="val 1230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Dependents</a:t>
            </a:r>
            <a:endParaRPr lang="en-US" sz="1200" dirty="0"/>
          </a:p>
        </p:txBody>
      </p:sp>
      <p:sp>
        <p:nvSpPr>
          <p:cNvPr id="17" name="Attribute Contract Type"/>
          <p:cNvSpPr txBox="1"/>
          <p:nvPr/>
        </p:nvSpPr>
        <p:spPr>
          <a:xfrm>
            <a:off x="7333488" y="2286000"/>
            <a:ext cx="1353312" cy="594360"/>
          </a:xfrm>
          <a:prstGeom prst="roundRect">
            <a:avLst>
              <a:gd name="adj" fmla="val 1230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Contract Type</a:t>
            </a:r>
            <a:endParaRPr lang="en-US" sz="1200" dirty="0"/>
          </a:p>
        </p:txBody>
      </p:sp>
      <p:sp>
        <p:nvSpPr>
          <p:cNvPr id="18" name="Attribute Payment Method"/>
          <p:cNvSpPr txBox="1"/>
          <p:nvPr/>
        </p:nvSpPr>
        <p:spPr>
          <a:xfrm>
            <a:off x="4480560" y="3017520"/>
            <a:ext cx="1353312" cy="594360"/>
          </a:xfrm>
          <a:prstGeom prst="roundRect">
            <a:avLst>
              <a:gd name="adj" fmla="val 1230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Payment Method</a:t>
            </a:r>
            <a:endParaRPr lang="en-US" sz="1200" dirty="0"/>
          </a:p>
        </p:txBody>
      </p:sp>
      <p:sp>
        <p:nvSpPr>
          <p:cNvPr id="19" name="Attribute Internet Service"/>
          <p:cNvSpPr txBox="1"/>
          <p:nvPr/>
        </p:nvSpPr>
        <p:spPr>
          <a:xfrm>
            <a:off x="5907024" y="3017520"/>
            <a:ext cx="1353312" cy="594360"/>
          </a:xfrm>
          <a:prstGeom prst="roundRect">
            <a:avLst>
              <a:gd name="adj" fmla="val 1230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Internet Service</a:t>
            </a:r>
            <a:endParaRPr lang="en-US" sz="1200" dirty="0"/>
          </a:p>
        </p:txBody>
      </p:sp>
      <p:sp>
        <p:nvSpPr>
          <p:cNvPr id="20" name="Attribute Monthly Charges"/>
          <p:cNvSpPr txBox="1"/>
          <p:nvPr/>
        </p:nvSpPr>
        <p:spPr>
          <a:xfrm>
            <a:off x="7333488" y="3017520"/>
            <a:ext cx="1353312" cy="594360"/>
          </a:xfrm>
          <a:prstGeom prst="roundRect">
            <a:avLst>
              <a:gd name="adj" fmla="val 1230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Monthly Charges</a:t>
            </a:r>
            <a:endParaRPr lang="en-US" sz="1200" dirty="0"/>
          </a:p>
        </p:txBody>
      </p:sp>
      <p:sp>
        <p:nvSpPr>
          <p:cNvPr id="21" name="Attribute Total Charges"/>
          <p:cNvSpPr txBox="1"/>
          <p:nvPr/>
        </p:nvSpPr>
        <p:spPr>
          <a:xfrm>
            <a:off x="4480560" y="3749040"/>
            <a:ext cx="1353312" cy="594360"/>
          </a:xfrm>
          <a:prstGeom prst="roundRect">
            <a:avLst>
              <a:gd name="adj" fmla="val 1230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Total Charges</a:t>
            </a:r>
            <a:endParaRPr lang="en-US" sz="1200" dirty="0"/>
          </a:p>
        </p:txBody>
      </p:sp>
      <p:sp>
        <p:nvSpPr>
          <p:cNvPr id="22" name="Attribute Tenure"/>
          <p:cNvSpPr txBox="1"/>
          <p:nvPr/>
        </p:nvSpPr>
        <p:spPr>
          <a:xfrm>
            <a:off x="5907024" y="3749040"/>
            <a:ext cx="1353312" cy="594360"/>
          </a:xfrm>
          <a:prstGeom prst="roundRect">
            <a:avLst>
              <a:gd name="adj" fmla="val 1230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Tenure</a:t>
            </a:r>
            <a:endParaRPr lang="en-US" sz="1200" dirty="0"/>
          </a:p>
        </p:txBody>
      </p:sp>
      <p:sp>
        <p:nvSpPr>
          <p:cNvPr id="23" name="Attribute Churn Status"/>
          <p:cNvSpPr txBox="1"/>
          <p:nvPr/>
        </p:nvSpPr>
        <p:spPr>
          <a:xfrm>
            <a:off x="7333488" y="3749040"/>
            <a:ext cx="1353312" cy="594360"/>
          </a:xfrm>
          <a:prstGeom prst="roundRect">
            <a:avLst>
              <a:gd name="adj" fmla="val 1230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Churn Status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Data Preparation &amp; Transformation</a:t>
            </a:r>
            <a:endParaRPr lang="en-US" sz="3200" dirty="0"/>
          </a:p>
        </p:txBody>
      </p:sp>
      <p:sp>
        <p:nvSpPr>
          <p:cNvPr id="3" name="Step card 1"/>
          <p:cNvSpPr/>
          <p:nvPr/>
        </p:nvSpPr>
        <p:spPr>
          <a:xfrm>
            <a:off x="457200" y="1234440"/>
            <a:ext cx="1554480" cy="22402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Number 1"/>
          <p:cNvSpPr txBox="1"/>
          <p:nvPr/>
        </p:nvSpPr>
        <p:spPr>
          <a:xfrm>
            <a:off x="594360" y="13716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920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Remove Duplicates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542032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Ensured each customer appears once</a:t>
            </a:r>
            <a:endParaRPr lang="en-US" sz="1200" dirty="0"/>
          </a:p>
        </p:txBody>
      </p:sp>
      <p:sp>
        <p:nvSpPr>
          <p:cNvPr id="7" name="Step card 2"/>
          <p:cNvSpPr/>
          <p:nvPr/>
        </p:nvSpPr>
        <p:spPr>
          <a:xfrm>
            <a:off x="2125980" y="1234440"/>
            <a:ext cx="1554480" cy="22402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Number 2"/>
          <p:cNvSpPr txBox="1"/>
          <p:nvPr/>
        </p:nvSpPr>
        <p:spPr>
          <a:xfrm>
            <a:off x="2263140" y="13716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263140" y="1920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Handle Missing Values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263140" y="2542032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Cleaned blank and null entries</a:t>
            </a:r>
            <a:endParaRPr lang="en-US" sz="1200" dirty="0"/>
          </a:p>
        </p:txBody>
      </p:sp>
      <p:sp>
        <p:nvSpPr>
          <p:cNvPr id="11" name="Step card 3"/>
          <p:cNvSpPr/>
          <p:nvPr/>
        </p:nvSpPr>
        <p:spPr>
          <a:xfrm>
            <a:off x="3794760" y="1234440"/>
            <a:ext cx="1554480" cy="22402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Number 3"/>
          <p:cNvSpPr txBox="1"/>
          <p:nvPr/>
        </p:nvSpPr>
        <p:spPr>
          <a:xfrm>
            <a:off x="3931920" y="13716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1920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Verify Data Types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2542032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Set correct numeric and text types</a:t>
            </a:r>
            <a:endParaRPr lang="en-US" sz="1200" dirty="0"/>
          </a:p>
        </p:txBody>
      </p:sp>
      <p:sp>
        <p:nvSpPr>
          <p:cNvPr id="15" name="Step card 4"/>
          <p:cNvSpPr/>
          <p:nvPr/>
        </p:nvSpPr>
        <p:spPr>
          <a:xfrm>
            <a:off x="5463540" y="1234440"/>
            <a:ext cx="1554480" cy="22402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Number 4"/>
          <p:cNvSpPr txBox="1"/>
          <p:nvPr/>
        </p:nvSpPr>
        <p:spPr>
          <a:xfrm>
            <a:off x="5600700" y="13716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600700" y="1920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Rename Columns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600700" y="2542032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Clear, business-friendly field names</a:t>
            </a:r>
            <a:endParaRPr lang="en-US" sz="1200" dirty="0"/>
          </a:p>
        </p:txBody>
      </p:sp>
      <p:sp>
        <p:nvSpPr>
          <p:cNvPr id="19" name="Step card 5"/>
          <p:cNvSpPr/>
          <p:nvPr/>
        </p:nvSpPr>
        <p:spPr>
          <a:xfrm>
            <a:off x="7132320" y="1234440"/>
            <a:ext cx="1554480" cy="22402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Number 5"/>
          <p:cNvSpPr txBox="1"/>
          <p:nvPr/>
        </p:nvSpPr>
        <p:spPr>
          <a:xfrm>
            <a:off x="7269480" y="13716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269480" y="1920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Add Calculated Fields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269480" y="2542032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Created helper columns for analysis</a:t>
            </a:r>
            <a:endParaRPr lang="en-US" sz="1200" dirty="0"/>
          </a:p>
        </p:txBody>
      </p:sp>
      <p:sp>
        <p:nvSpPr>
          <p:cNvPr id="23" name="Tool band"/>
          <p:cNvSpPr/>
          <p:nvPr/>
        </p:nvSpPr>
        <p:spPr>
          <a:xfrm>
            <a:off x="457200" y="3703320"/>
            <a:ext cx="822960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731520" y="37947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Tool used: Power Query Editor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41148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All transformations were applied before loading the data into the model.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Data Model</a:t>
            </a:r>
            <a:endParaRPr lang="en-US" sz="3200" dirty="0"/>
          </a:p>
        </p:txBody>
      </p:sp>
      <p:sp>
        <p:nvSpPr>
          <p:cNvPr id="3" name="Feature card 1"/>
          <p:cNvSpPr/>
          <p:nvPr/>
        </p:nvSpPr>
        <p:spPr>
          <a:xfrm>
            <a:off x="457200" y="1234440"/>
            <a:ext cx="356616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Number 1"/>
          <p:cNvSpPr txBox="1"/>
          <p:nvPr/>
        </p:nvSpPr>
        <p:spPr>
          <a:xfrm>
            <a:off x="640080" y="15087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3898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Optimized schema design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91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Clean structure that keeps the model simple and fast</a:t>
            </a:r>
            <a:endParaRPr lang="en-US" sz="1200" dirty="0"/>
          </a:p>
        </p:txBody>
      </p:sp>
      <p:sp>
        <p:nvSpPr>
          <p:cNvPr id="7" name="Feature card 2"/>
          <p:cNvSpPr/>
          <p:nvPr/>
        </p:nvSpPr>
        <p:spPr>
          <a:xfrm>
            <a:off x="457200" y="2331720"/>
            <a:ext cx="356616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Number 2"/>
          <p:cNvSpPr txBox="1"/>
          <p:nvPr/>
        </p:nvSpPr>
        <p:spPr>
          <a:xfrm>
            <a:off x="640080" y="26060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4871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Efficient data relationships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88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Fields organized for accurate filtering across visuals</a:t>
            </a:r>
            <a:endParaRPr lang="en-US" sz="1200" dirty="0"/>
          </a:p>
        </p:txBody>
      </p:sp>
      <p:sp>
        <p:nvSpPr>
          <p:cNvPr id="11" name="Feature card 3"/>
          <p:cNvSpPr/>
          <p:nvPr/>
        </p:nvSpPr>
        <p:spPr>
          <a:xfrm>
            <a:off x="457200" y="3429000"/>
            <a:ext cx="356616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Number 3"/>
          <p:cNvSpPr txBox="1"/>
          <p:nvPr/>
        </p:nvSpPr>
        <p:spPr>
          <a:xfrm>
            <a:off x="640080" y="37033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5844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Improved reporting performance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886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Lightweight model keeps dashboard visuals responsive</a:t>
            </a:r>
            <a:endParaRPr lang="en-US" sz="1200" dirty="0"/>
          </a:p>
        </p:txBody>
      </p:sp>
      <p:sp>
        <p:nvSpPr>
          <p:cNvPr id="15" name="Customer table"/>
          <p:cNvSpPr/>
          <p:nvPr/>
        </p:nvSpPr>
        <p:spPr>
          <a:xfrm>
            <a:off x="4297680" y="1234440"/>
            <a:ext cx="2103120" cy="320040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Customer header"/>
          <p:cNvSpPr/>
          <p:nvPr/>
        </p:nvSpPr>
        <p:spPr>
          <a:xfrm>
            <a:off x="4297680" y="1234440"/>
            <a:ext cx="2103120" cy="41148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297680" y="1234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Customer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1737360"/>
            <a:ext cx="18288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CustomerID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Gender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SeniorCitizen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Partner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Dependents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Tenure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Contract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PaymentMethod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InternetService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MonthlyCharges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TotalCharges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Churn</a:t>
            </a:r>
            <a:endParaRPr lang="en-US" sz="1200" dirty="0"/>
          </a:p>
        </p:txBody>
      </p:sp>
      <p:sp>
        <p:nvSpPr>
          <p:cNvPr id="19" name="Measures table"/>
          <p:cNvSpPr/>
          <p:nvPr/>
        </p:nvSpPr>
        <p:spPr>
          <a:xfrm>
            <a:off x="6675120" y="1234440"/>
            <a:ext cx="2011680" cy="320040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Measures header"/>
          <p:cNvSpPr/>
          <p:nvPr/>
        </p:nvSpPr>
        <p:spPr>
          <a:xfrm>
            <a:off x="6675120" y="1234440"/>
            <a:ext cx="2011680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75120" y="1234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DAX Measures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1783080"/>
            <a:ext cx="1737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Total Customers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Churned Customers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Active Customers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Churn Rate</a:t>
            </a:r>
            <a:endParaRPr lang="en-US" sz="1300" dirty="0"/>
          </a:p>
        </p:txBody>
      </p:sp>
      <p:sp>
        <p:nvSpPr>
          <p:cNvPr id="23" name="Model connector"/>
          <p:cNvSpPr/>
          <p:nvPr/>
        </p:nvSpPr>
        <p:spPr>
          <a:xfrm>
            <a:off x="6400800" y="2834640"/>
            <a:ext cx="27432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DAX Calculations</a:t>
            </a:r>
            <a:endParaRPr lang="en-US" sz="3200" dirty="0"/>
          </a:p>
        </p:txBody>
      </p:sp>
      <p:sp>
        <p:nvSpPr>
          <p:cNvPr id="3" name="DAX card Total Customers"/>
          <p:cNvSpPr/>
          <p:nvPr/>
        </p:nvSpPr>
        <p:spPr>
          <a:xfrm>
            <a:off x="457200" y="118872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Total Customers</a:t>
            </a:r>
            <a:endParaRPr lang="en-US" sz="1400" dirty="0"/>
          </a:p>
        </p:txBody>
      </p:sp>
      <p:sp>
        <p:nvSpPr>
          <p:cNvPr id="5" name="Code block Total Customers"/>
          <p:cNvSpPr/>
          <p:nvPr/>
        </p:nvSpPr>
        <p:spPr>
          <a:xfrm>
            <a:off x="594360" y="1600200"/>
            <a:ext cx="3749040" cy="10972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6459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Customers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COUNT(Customer[CustomerID])</a:t>
            </a:r>
            <a:endParaRPr lang="en-US" sz="1100" dirty="0"/>
          </a:p>
        </p:txBody>
      </p:sp>
      <p:sp>
        <p:nvSpPr>
          <p:cNvPr id="7" name="DAX card Churned Customers"/>
          <p:cNvSpPr/>
          <p:nvPr/>
        </p:nvSpPr>
        <p:spPr>
          <a:xfrm>
            <a:off x="4663440" y="118872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84632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Churned Customers</a:t>
            </a:r>
            <a:endParaRPr lang="en-US" sz="1400" dirty="0"/>
          </a:p>
        </p:txBody>
      </p:sp>
      <p:sp>
        <p:nvSpPr>
          <p:cNvPr id="9" name="Code block Churned Customers"/>
          <p:cNvSpPr/>
          <p:nvPr/>
        </p:nvSpPr>
        <p:spPr>
          <a:xfrm>
            <a:off x="4800600" y="1600200"/>
            <a:ext cx="3749040" cy="10972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937760" y="16459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Churned Customers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COUNT(Customer[CustomerID]),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Customer[Churn] = "Yes"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1" name="DAX card Active Customers"/>
          <p:cNvSpPr/>
          <p:nvPr/>
        </p:nvSpPr>
        <p:spPr>
          <a:xfrm>
            <a:off x="457200" y="292608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008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Active Customers</a:t>
            </a:r>
            <a:endParaRPr lang="en-US" sz="1400" dirty="0"/>
          </a:p>
        </p:txBody>
      </p:sp>
      <p:sp>
        <p:nvSpPr>
          <p:cNvPr id="13" name="Code block Active Customers"/>
          <p:cNvSpPr/>
          <p:nvPr/>
        </p:nvSpPr>
        <p:spPr>
          <a:xfrm>
            <a:off x="594360" y="3337560"/>
            <a:ext cx="3749040" cy="10972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3832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 Customers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[Total Customers] - [Churned Customers]</a:t>
            </a:r>
            <a:endParaRPr lang="en-US" sz="1100" dirty="0"/>
          </a:p>
        </p:txBody>
      </p:sp>
      <p:sp>
        <p:nvSpPr>
          <p:cNvPr id="15" name="DAX card Churn Rate"/>
          <p:cNvSpPr/>
          <p:nvPr/>
        </p:nvSpPr>
        <p:spPr>
          <a:xfrm>
            <a:off x="4663440" y="292608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84632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Churn Rate</a:t>
            </a:r>
            <a:endParaRPr lang="en-US" sz="1400" dirty="0"/>
          </a:p>
        </p:txBody>
      </p:sp>
      <p:sp>
        <p:nvSpPr>
          <p:cNvPr id="17" name="Code block Churn Rate"/>
          <p:cNvSpPr/>
          <p:nvPr/>
        </p:nvSpPr>
        <p:spPr>
          <a:xfrm>
            <a:off x="4800600" y="3337560"/>
            <a:ext cx="3749040" cy="10972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937760" y="33832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Churn Rate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[Churned Customers],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[Total Customers]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* 100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Dashboard Overview</a:t>
            </a:r>
            <a:endParaRPr lang="en-US" sz="3200" dirty="0"/>
          </a:p>
        </p:txBody>
      </p:sp>
      <p:sp>
        <p:nvSpPr>
          <p:cNvPr id="3" name="Dashboard frame"/>
          <p:cNvSpPr/>
          <p:nvPr/>
        </p:nvSpPr>
        <p:spPr>
          <a:xfrm>
            <a:off x="457200" y="1188720"/>
            <a:ext cx="5577840" cy="3108960"/>
          </a:xfrm>
          <a:prstGeom prst="roundRect">
            <a:avLst>
              <a:gd name="adj" fmla="val 235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Full churn dashboard" descr="Full churn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394960" cy="2898631"/>
          </a:xfrm>
          <a:prstGeom prst="rect">
            <a:avLst/>
          </a:prstGeom>
        </p:spPr>
      </p:pic>
      <p:sp>
        <p:nvSpPr>
          <p:cNvPr id="5" name="Components card"/>
          <p:cNvSpPr/>
          <p:nvPr/>
        </p:nvSpPr>
        <p:spPr>
          <a:xfrm>
            <a:off x="6263640" y="1188720"/>
            <a:ext cx="2423160" cy="3108960"/>
          </a:xfrm>
          <a:prstGeom prst="roundRect">
            <a:avLst>
              <a:gd name="adj" fmla="val 301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446520" y="1325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Dashboard Components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46520" y="1828800"/>
            <a:ext cx="2103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KPI Cards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Customer Segmentation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Churn Distribution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Contract Analysis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Payment Method Analysis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Tenure Analysis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Interactive Filters and Slicers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38912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Customer Churn Analysis Dashboard built in Power BI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Key Performance Indicators</a:t>
            </a:r>
            <a:endParaRPr lang="en-US" sz="3200" dirty="0"/>
          </a:p>
        </p:txBody>
      </p:sp>
      <p:sp>
        <p:nvSpPr>
          <p:cNvPr id="3" name="KPI Total Customers"/>
          <p:cNvSpPr/>
          <p:nvPr/>
        </p:nvSpPr>
        <p:spPr>
          <a:xfrm>
            <a:off x="457200" y="1188720"/>
            <a:ext cx="2651760" cy="114300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57200" y="129844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7,043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385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Total Customers</a:t>
            </a:r>
            <a:endParaRPr lang="en-US" sz="1300" dirty="0"/>
          </a:p>
        </p:txBody>
      </p:sp>
      <p:sp>
        <p:nvSpPr>
          <p:cNvPr id="6" name="KPI Churned Customers"/>
          <p:cNvSpPr/>
          <p:nvPr/>
        </p:nvSpPr>
        <p:spPr>
          <a:xfrm>
            <a:off x="3291840" y="1188720"/>
            <a:ext cx="2651760" cy="114300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291840" y="129844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1,869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9385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Churned Customers</a:t>
            </a:r>
            <a:endParaRPr lang="en-US" sz="1300" dirty="0"/>
          </a:p>
        </p:txBody>
      </p:sp>
      <p:sp>
        <p:nvSpPr>
          <p:cNvPr id="9" name="KPI Active Customers"/>
          <p:cNvSpPr/>
          <p:nvPr/>
        </p:nvSpPr>
        <p:spPr>
          <a:xfrm>
            <a:off x="457200" y="2468880"/>
            <a:ext cx="2651760" cy="114300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7200" y="257860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5,174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2186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Active Customers</a:t>
            </a:r>
            <a:endParaRPr lang="en-US" sz="1300" dirty="0"/>
          </a:p>
        </p:txBody>
      </p:sp>
      <p:sp>
        <p:nvSpPr>
          <p:cNvPr id="12" name="KPI Churn Rate"/>
          <p:cNvSpPr/>
          <p:nvPr/>
        </p:nvSpPr>
        <p:spPr>
          <a:xfrm>
            <a:off x="3291840" y="2468880"/>
            <a:ext cx="2651760" cy="114300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291840" y="257860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26.5%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32186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Churn Rate</a:t>
            </a:r>
            <a:endParaRPr lang="en-US" sz="1300" dirty="0"/>
          </a:p>
        </p:txBody>
      </p:sp>
      <p:sp>
        <p:nvSpPr>
          <p:cNvPr id="15" name="KPI screenshot frame"/>
          <p:cNvSpPr/>
          <p:nvPr/>
        </p:nvSpPr>
        <p:spPr>
          <a:xfrm>
            <a:off x="6172200" y="1188720"/>
            <a:ext cx="2514600" cy="2423160"/>
          </a:xfrm>
          <a:prstGeom prst="roundRect">
            <a:avLst>
              <a:gd name="adj" fmla="val 301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6" name="Dashboard KPI cards" descr="Dashboard KPI car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261872"/>
            <a:ext cx="2331720" cy="2113121"/>
          </a:xfrm>
          <a:prstGeom prst="rect">
            <a:avLst/>
          </a:prstGeom>
        </p:spPr>
      </p:pic>
      <p:sp>
        <p:nvSpPr>
          <p:cNvPr id="17" name="Insight band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85800" y="37947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Gives an overall view of customer retention, enables quick assessment of business performance, and helps monitor churn trends.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Customer Behavior Analysis</a:t>
            </a:r>
            <a:endParaRPr lang="en-US" sz="3200" dirty="0"/>
          </a:p>
        </p:txBody>
      </p:sp>
      <p:sp>
        <p:nvSpPr>
          <p:cNvPr id="3" name="Card Gender"/>
          <p:cNvSpPr/>
          <p:nvPr/>
        </p:nvSpPr>
        <p:spPr>
          <a:xfrm>
            <a:off x="457200" y="1143000"/>
            <a:ext cx="2560320" cy="301752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Gender distribution pie chart" descr="Gender distribution pie ch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34440"/>
            <a:ext cx="2011680" cy="2011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33832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Gender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6393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Customers are split almost evenly between male and female.</a:t>
            </a:r>
            <a:endParaRPr lang="en-US" sz="1200" dirty="0"/>
          </a:p>
        </p:txBody>
      </p:sp>
      <p:sp>
        <p:nvSpPr>
          <p:cNvPr id="7" name="Card Dependents"/>
          <p:cNvSpPr/>
          <p:nvPr/>
        </p:nvSpPr>
        <p:spPr>
          <a:xfrm>
            <a:off x="3291840" y="1143000"/>
            <a:ext cx="2560320" cy="301752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Dependents donut chart" descr="Dependents donut cha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234440"/>
            <a:ext cx="2011680" cy="20116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474720" y="33832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Dependents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3474720" y="36393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About 30% of customers have dependents; 70% do not.</a:t>
            </a:r>
            <a:endParaRPr lang="en-US" sz="1200" dirty="0"/>
          </a:p>
        </p:txBody>
      </p:sp>
      <p:sp>
        <p:nvSpPr>
          <p:cNvPr id="11" name="Card Partner"/>
          <p:cNvSpPr/>
          <p:nvPr/>
        </p:nvSpPr>
        <p:spPr>
          <a:xfrm>
            <a:off x="6126480" y="1143000"/>
            <a:ext cx="2560320" cy="301752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2" name="Partner bar chart" descr="Partner bar cha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234440"/>
            <a:ext cx="2011680" cy="190762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309360" y="33832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Partner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6309360" y="36393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Customers with and without a partner are nearly equal.</a:t>
            </a:r>
            <a:endParaRPr lang="en-US" sz="1200" dirty="0"/>
          </a:p>
        </p:txBody>
      </p:sp>
      <p:sp>
        <p:nvSpPr>
          <p:cNvPr id="15" name="Takeaway band"/>
          <p:cNvSpPr/>
          <p:nvPr/>
        </p:nvSpPr>
        <p:spPr>
          <a:xfrm>
            <a:off x="457200" y="4297680"/>
            <a:ext cx="822960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1"/>
          <p:cNvSpPr txBox="1"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Segments are balanced in size, so churn drivers are explored through contract, payment and service.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Churn Drivers Analysis</a:t>
            </a:r>
            <a:endParaRPr lang="en-US" sz="3200" dirty="0"/>
          </a:p>
        </p:txBody>
      </p:sp>
      <p:sp>
        <p:nvSpPr>
          <p:cNvPr id="3" name="Card Contract Type"/>
          <p:cNvSpPr/>
          <p:nvPr/>
        </p:nvSpPr>
        <p:spPr>
          <a:xfrm>
            <a:off x="457200" y="1143000"/>
            <a:ext cx="2560320" cy="301752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Contract and churn bar chart" descr="Contract and churn bar ch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2194560" cy="2081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33832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Contract Type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6393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Month-to-month contracts carry the largest churned share.</a:t>
            </a:r>
            <a:endParaRPr lang="en-US" sz="1200" dirty="0"/>
          </a:p>
        </p:txBody>
      </p:sp>
      <p:sp>
        <p:nvSpPr>
          <p:cNvPr id="7" name="Card Payment Method"/>
          <p:cNvSpPr/>
          <p:nvPr/>
        </p:nvSpPr>
        <p:spPr>
          <a:xfrm>
            <a:off x="3291840" y="1143000"/>
            <a:ext cx="2560320" cy="301752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Payment method and churn column chart" descr="Payment method and churn column cha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234440"/>
            <a:ext cx="2194560" cy="188595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474720" y="33832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Payment Method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3474720" y="36393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Electronic check shows the highest churn volume.</a:t>
            </a:r>
            <a:endParaRPr lang="en-US" sz="1200" dirty="0"/>
          </a:p>
        </p:txBody>
      </p:sp>
      <p:sp>
        <p:nvSpPr>
          <p:cNvPr id="11" name="Card Internet Service"/>
          <p:cNvSpPr/>
          <p:nvPr/>
        </p:nvSpPr>
        <p:spPr>
          <a:xfrm>
            <a:off x="6126480" y="1143000"/>
            <a:ext cx="2560320" cy="301752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2" name="Internet service and churn bar chart" descr="Internet service and churn bar cha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34440"/>
            <a:ext cx="2194560" cy="184470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309360" y="33832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Internet Service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6309360" y="36393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Fiber optic customers show the most churn.</a:t>
            </a:r>
            <a:endParaRPr lang="en-US" sz="1200" dirty="0"/>
          </a:p>
        </p:txBody>
      </p:sp>
      <p:sp>
        <p:nvSpPr>
          <p:cNvPr id="15" name="Observation band"/>
          <p:cNvSpPr/>
          <p:nvPr/>
        </p:nvSpPr>
        <p:spPr>
          <a:xfrm>
            <a:off x="457200" y="4297680"/>
            <a:ext cx="822960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1"/>
          <p:cNvSpPr txBox="1"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Key observation: flexible contracts and specific payment methods exhibit higher churn rates.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Tenure Analysis</a:t>
            </a:r>
            <a:endParaRPr lang="en-US" sz="3200" dirty="0"/>
          </a:p>
        </p:txBody>
      </p:sp>
      <p:sp>
        <p:nvSpPr>
          <p:cNvPr id="3" name="Tenure frame"/>
          <p:cNvSpPr/>
          <p:nvPr/>
        </p:nvSpPr>
        <p:spPr>
          <a:xfrm>
            <a:off x="457200" y="1188720"/>
            <a:ext cx="4114800" cy="329184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Total customers by tenure chart" descr="Total customers by tenure ch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25880"/>
            <a:ext cx="3840480" cy="3061252"/>
          </a:xfrm>
          <a:prstGeom prst="rect">
            <a:avLst/>
          </a:prstGeom>
        </p:spPr>
      </p:pic>
      <p:sp>
        <p:nvSpPr>
          <p:cNvPr id="5" name="Tenure insight 1"/>
          <p:cNvSpPr/>
          <p:nvPr/>
        </p:nvSpPr>
        <p:spPr>
          <a:xfrm>
            <a:off x="4846320" y="1188720"/>
            <a:ext cx="384048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Number 1"/>
          <p:cNvSpPr txBox="1"/>
          <p:nvPr/>
        </p:nvSpPr>
        <p:spPr>
          <a:xfrm>
            <a:off x="4983480" y="149047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532120" y="13167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Early-tenure spike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532120" y="160934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Many customers are in their first months, a critical window for retention.</a:t>
            </a:r>
            <a:endParaRPr lang="en-US" sz="1200" dirty="0"/>
          </a:p>
        </p:txBody>
      </p:sp>
      <p:sp>
        <p:nvSpPr>
          <p:cNvPr id="9" name="Tenure insight 2"/>
          <p:cNvSpPr/>
          <p:nvPr/>
        </p:nvSpPr>
        <p:spPr>
          <a:xfrm>
            <a:off x="4846320" y="2313432"/>
            <a:ext cx="384048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Number 2"/>
          <p:cNvSpPr txBox="1"/>
          <p:nvPr/>
        </p:nvSpPr>
        <p:spPr>
          <a:xfrm>
            <a:off x="4983480" y="261518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532120" y="24414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Loyal long-term base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532120" y="273405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 second peak at the longest tenure shows customers who stay once established.</a:t>
            </a:r>
            <a:endParaRPr lang="en-US" sz="1200" dirty="0"/>
          </a:p>
        </p:txBody>
      </p:sp>
      <p:sp>
        <p:nvSpPr>
          <p:cNvPr id="13" name="Tenure insight 3"/>
          <p:cNvSpPr/>
          <p:nvPr/>
        </p:nvSpPr>
        <p:spPr>
          <a:xfrm>
            <a:off x="4846320" y="3438144"/>
            <a:ext cx="384048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Number 3"/>
          <p:cNvSpPr txBox="1"/>
          <p:nvPr/>
        </p:nvSpPr>
        <p:spPr>
          <a:xfrm>
            <a:off x="4983480" y="3739896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532120" y="3566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Retention focus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532120" y="385876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Onboarding and early engagement offer the best chance to reduce churn.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Business Insights &amp; Recommendations</a:t>
            </a:r>
            <a:endParaRPr lang="en-US" sz="3200" dirty="0"/>
          </a:p>
        </p:txBody>
      </p:sp>
      <p:sp>
        <p:nvSpPr>
          <p:cNvPr id="3" name="Insights card"/>
          <p:cNvSpPr/>
          <p:nvPr/>
        </p:nvSpPr>
        <p:spPr>
          <a:xfrm>
            <a:off x="457200" y="1188720"/>
            <a:ext cx="3931920" cy="329184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Insights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2880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Churn is concentrated within specific customer segments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Contract duration significantly impacts retention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Customer tenure influences loyalty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Service preferences affect churn patterns</a:t>
            </a:r>
            <a:endParaRPr lang="en-US" sz="1400" dirty="0"/>
          </a:p>
        </p:txBody>
      </p:sp>
      <p:sp>
        <p:nvSpPr>
          <p:cNvPr id="6" name="Recommendations card"/>
          <p:cNvSpPr/>
          <p:nvPr/>
        </p:nvSpPr>
        <p:spPr>
          <a:xfrm>
            <a:off x="4754880" y="1188720"/>
            <a:ext cx="3931920" cy="3291840"/>
          </a:xfrm>
          <a:prstGeom prst="roundRect">
            <a:avLst>
              <a:gd name="adj" fmla="val 2222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98348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Recommendations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983480" y="182880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Encourage long-term subscriptions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Improve customer engagement programs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Offer retention incentives to high-risk customers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Develop targeted marketing campaigns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Provide personalized customer support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Analyzed customer churn patterns across 7,043 customers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Built an interactive Power BI dashboard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Created DAX measures for KPI tracking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Generated business insights through visual analytics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Recommended strategies to improve customer retention</a:t>
            </a:r>
            <a:endParaRPr lang="en-US" sz="1600" dirty="0"/>
          </a:p>
        </p:txBody>
      </p:sp>
      <p:sp>
        <p:nvSpPr>
          <p:cNvPr id="4" name="Thank you card"/>
          <p:cNvSpPr/>
          <p:nvPr/>
        </p:nvSpPr>
        <p:spPr>
          <a:xfrm>
            <a:off x="5760720" y="1371600"/>
            <a:ext cx="2834640" cy="2834640"/>
          </a:xfrm>
          <a:prstGeom prst="roundRect">
            <a:avLst>
              <a:gd name="adj" fmla="val 3226"/>
            </a:avLst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760720" y="21031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Thank You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2834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Questions &amp; Answers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urn Berry">
  <a:themeElements>
    <a:clrScheme name="Churn Berry">
      <a:dk1>
        <a:srgbClr val="2B1024"/>
      </a:dk1>
      <a:lt1>
        <a:srgbClr val="FFFFFF"/>
      </a:lt1>
      <a:dk2>
        <a:srgbClr val="5A1A45"/>
      </a:dk2>
      <a:lt2>
        <a:srgbClr val="FDF1F8"/>
      </a:lt2>
      <a:accent1>
        <a:srgbClr val="E144A8"/>
      </a:accent1>
      <a:accent2>
        <a:srgbClr val="A5307C"/>
      </a:accent2>
      <a:accent3>
        <a:srgbClr val="7A2160"/>
      </a:accent3>
      <a:accent4>
        <a:srgbClr val="F4A6D3"/>
      </a:accent4>
      <a:accent5>
        <a:srgbClr val="6B5B66"/>
      </a:accent5>
      <a:accent6>
        <a:srgbClr val="C9A0B8"/>
      </a:accent6>
      <a:hlink>
        <a:srgbClr val="A5307C"/>
      </a:hlink>
      <a:folHlink>
        <a:srgbClr val="7A2160"/>
      </a:folHlink>
    </a:clrScheme>
    <a:fontScheme name="Churn Berr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Analysis Dashboard</dc:title>
  <dc:subject>PptxGenJS Presentation</dc:subject>
  <dc:creator>PptxGenJS</dc:creator>
  <cp:lastModifiedBy>PptxGenJS</cp:lastModifiedBy>
  <cp:revision>1</cp:revision>
  <dcterms:created xsi:type="dcterms:W3CDTF">2026-10-19T08:14:49Z</dcterms:created>
  <dcterms:modified xsi:type="dcterms:W3CDTF">2026-10-19T08:14:49Z</dcterms:modified>
</cp:coreProperties>
</file>